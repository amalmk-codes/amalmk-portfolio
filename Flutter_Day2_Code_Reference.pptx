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114800" cy="411480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" y="108447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5B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IMPLEMENTATION GUIDE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7889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You Can Copy &amp; Paste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22960" y="40233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Full, working snippets for Navigation, State Management, REST APIs, and Firebase — ready to drop straight into your project.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60350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click into any code box and select all (Ctrl/Cmd+A) to copy the whole snippet.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4" y="520294"/>
            <a:ext cx="285293" cy="28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Named Routes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every screen once in MaterialApp, then navigate by name from anywhere in the app.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main.dart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4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8562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18562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1060704" y="18562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103120"/>
            <a:ext cx="1057960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85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MaterialApp(</a:t>
            </a:r>
            <a:pPr indent="0" marL="0">
              <a:lnSpc>
                <a:spcPct val="115000"/>
              </a:lnSpc>
              <a:buNone/>
            </a:pPr>
            <a:endParaRPr lang="en-US" sz="138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5" dirty="0">
                <a:solidFill>
                  <a:srgbClr val="7FD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'My App',</a:t>
            </a:r>
            <a:pPr indent="0" marL="0">
              <a:lnSpc>
                <a:spcPct val="115000"/>
              </a:lnSpc>
              <a:buNone/>
            </a:pPr>
            <a:endParaRPr lang="en-US" sz="138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5" dirty="0">
                <a:solidFill>
                  <a:srgbClr val="7FD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initialRoute: '/',</a:t>
            </a:r>
            <a:pPr indent="0" marL="0">
              <a:lnSpc>
                <a:spcPct val="115000"/>
              </a:lnSpc>
              <a:buNone/>
            </a:pPr>
            <a:endParaRPr lang="en-US" sz="138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5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routes: {</a:t>
            </a:r>
            <a:pPr indent="0" marL="0">
              <a:lnSpc>
                <a:spcPct val="115000"/>
              </a:lnSpc>
              <a:buNone/>
            </a:pPr>
            <a:endParaRPr lang="en-US" sz="138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5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'/': (context) =&gt; const HomeScreen(),</a:t>
            </a:r>
            <a:pPr indent="0" marL="0">
              <a:lnSpc>
                <a:spcPct val="115000"/>
              </a:lnSpc>
              <a:buNone/>
            </a:pPr>
            <a:endParaRPr lang="en-US" sz="138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5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'/details': (context) =&gt; const DetailScreen(),</a:t>
            </a:r>
            <a:pPr indent="0" marL="0">
              <a:lnSpc>
                <a:spcPct val="115000"/>
              </a:lnSpc>
              <a:buNone/>
            </a:pPr>
            <a:endParaRPr lang="en-US" sz="138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5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'/settings': (context) =&gt; const SettingsScreen(),</a:t>
            </a:r>
            <a:pPr indent="0" marL="0">
              <a:lnSpc>
                <a:spcPct val="115000"/>
              </a:lnSpc>
              <a:buNone/>
            </a:pPr>
            <a:endParaRPr lang="en-US" sz="138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5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pPr indent="0" marL="0">
              <a:lnSpc>
                <a:spcPct val="115000"/>
              </a:lnSpc>
              <a:buNone/>
            </a:pPr>
            <a:endParaRPr lang="en-US" sz="138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5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38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5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8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5" dirty="0">
                <a:solidFill>
                  <a:srgbClr val="7E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Navigate to a named route</a:t>
            </a:r>
            <a:pPr indent="0" marL="0">
              <a:lnSpc>
                <a:spcPct val="115000"/>
              </a:lnSpc>
              <a:buNone/>
            </a:pPr>
            <a:endParaRPr lang="en-US" sz="138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5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Navigator.pushNamed(context, '/details');</a:t>
            </a:r>
            <a:pPr indent="0" marL="0">
              <a:lnSpc>
                <a:spcPct val="115000"/>
              </a:lnSpc>
              <a:buNone/>
            </a:pPr>
            <a:endParaRPr lang="en-US" sz="138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5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8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5" dirty="0">
                <a:solidFill>
                  <a:srgbClr val="7E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 back to the previous screen</a:t>
            </a:r>
            <a:pPr indent="0" marL="0">
              <a:lnSpc>
                <a:spcPct val="115000"/>
              </a:lnSpc>
              <a:buNone/>
            </a:pPr>
            <a:endParaRPr lang="en-US" sz="138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5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Navigator.pop(context);</a:t>
            </a:r>
            <a:pPr indent="0" marL="0">
              <a:lnSpc>
                <a:spcPct val="115000"/>
              </a:lnSpc>
              <a:buNone/>
            </a:pPr>
            <a:endParaRPr lang="en-US" sz="138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4" y="520294"/>
            <a:ext cx="285293" cy="28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Passing Data Between Screens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data through the widget's constructor when pushing a new route.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home_screen.dart → detail_screen.dart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4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8562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18562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1060704" y="18562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103120"/>
            <a:ext cx="1057960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9" dirty="0">
                <a:solidFill>
                  <a:srgbClr val="7E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Push the new screen with data</a:t>
            </a:r>
            <a:pPr indent="0" marL="0">
              <a:lnSpc>
                <a:spcPct val="115000"/>
              </a:lnSpc>
              <a:buNone/>
            </a:pPr>
            <a:endParaRPr lang="en-US" sz="98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9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Navigator.push(</a:t>
            </a:r>
            <a:pPr indent="0" marL="0">
              <a:lnSpc>
                <a:spcPct val="115000"/>
              </a:lnSpc>
              <a:buNone/>
            </a:pPr>
            <a:endParaRPr lang="en-US" sz="98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9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context,</a:t>
            </a:r>
            <a:pPr indent="0" marL="0">
              <a:lnSpc>
                <a:spcPct val="115000"/>
              </a:lnSpc>
              <a:buNone/>
            </a:pPr>
            <a:endParaRPr lang="en-US" sz="98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9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MaterialPageRoute(</a:t>
            </a:r>
            <a:pPr indent="0" marL="0">
              <a:lnSpc>
                <a:spcPct val="115000"/>
              </a:lnSpc>
              <a:buNone/>
            </a:pPr>
            <a:endParaRPr lang="en-US" sz="98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9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builder: (context) =&gt; DetailScreen(itemId: 42),</a:t>
            </a:r>
            <a:pPr indent="0" marL="0">
              <a:lnSpc>
                <a:spcPct val="115000"/>
              </a:lnSpc>
              <a:buNone/>
            </a:pPr>
            <a:endParaRPr lang="en-US" sz="98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9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),</a:t>
            </a:r>
            <a:pPr indent="0" marL="0">
              <a:lnSpc>
                <a:spcPct val="115000"/>
              </a:lnSpc>
              <a:buNone/>
            </a:pPr>
            <a:endParaRPr lang="en-US" sz="98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9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lnSpc>
                <a:spcPct val="115000"/>
              </a:lnSpc>
              <a:buNone/>
            </a:pPr>
            <a:endParaRPr lang="en-US" sz="98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9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8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9" dirty="0">
                <a:solidFill>
                  <a:srgbClr val="7E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Receive it in the new screen's constructor</a:t>
            </a:r>
            <a:pPr indent="0" marL="0">
              <a:lnSpc>
                <a:spcPct val="115000"/>
              </a:lnSpc>
              <a:buNone/>
            </a:pPr>
            <a:endParaRPr lang="en-US" sz="98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9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DetailScreen extends StatelessWidget {</a:t>
            </a:r>
            <a:pPr indent="0" marL="0">
              <a:lnSpc>
                <a:spcPct val="115000"/>
              </a:lnSpc>
              <a:buNone/>
            </a:pPr>
            <a:endParaRPr lang="en-US" sz="98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9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int itemId;</a:t>
            </a:r>
            <a:pPr indent="0" marL="0">
              <a:lnSpc>
                <a:spcPct val="115000"/>
              </a:lnSpc>
              <a:buNone/>
            </a:pPr>
            <a:endParaRPr lang="en-US" sz="98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9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DetailScreen({super.key, required this.itemId});</a:t>
            </a:r>
            <a:pPr indent="0" marL="0">
              <a:lnSpc>
                <a:spcPct val="115000"/>
              </a:lnSpc>
              <a:buNone/>
            </a:pPr>
            <a:endParaRPr lang="en-US" sz="98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9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8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9" dirty="0">
                <a:solidFill>
                  <a:srgbClr val="F2C9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pPr indent="0" marL="0">
              <a:lnSpc>
                <a:spcPct val="115000"/>
              </a:lnSpc>
              <a:buNone/>
            </a:pPr>
            <a:endParaRPr lang="en-US" sz="98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9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 build(BuildContext context) {</a:t>
            </a:r>
            <a:pPr indent="0" marL="0">
              <a:lnSpc>
                <a:spcPct val="115000"/>
              </a:lnSpc>
              <a:buNone/>
            </a:pPr>
            <a:endParaRPr lang="en-US" sz="98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9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Scaffold(</a:t>
            </a:r>
            <a:pPr indent="0" marL="0">
              <a:lnSpc>
                <a:spcPct val="115000"/>
              </a:lnSpc>
              <a:buNone/>
            </a:pPr>
            <a:endParaRPr lang="en-US" sz="98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9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appBar: AppBar(title: Text('Item #$itemId')),</a:t>
            </a:r>
            <a:pPr indent="0" marL="0">
              <a:lnSpc>
                <a:spcPct val="115000"/>
              </a:lnSpc>
              <a:buNone/>
            </a:pPr>
            <a:endParaRPr lang="en-US" sz="98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9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body: Center(child: Text('Details for item $itemId')),</a:t>
            </a:r>
            <a:pPr indent="0" marL="0">
              <a:lnSpc>
                <a:spcPct val="115000"/>
              </a:lnSpc>
              <a:buNone/>
            </a:pPr>
            <a:endParaRPr lang="en-US" sz="98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9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pPr indent="0" marL="0">
              <a:lnSpc>
                <a:spcPct val="115000"/>
              </a:lnSpc>
              <a:buNone/>
            </a:pPr>
            <a:endParaRPr lang="en-US" sz="98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9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lnSpc>
                <a:spcPct val="115000"/>
              </a:lnSpc>
              <a:buNone/>
            </a:pPr>
            <a:endParaRPr lang="en-US" sz="98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9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endParaRPr lang="en-US" sz="98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4" y="520294"/>
            <a:ext cx="285293" cy="28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Returning Data Back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await on Navigator.push to get a result back once the pushed screen is popped.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selection_caller.dart → selection_screen.dart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4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8562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18562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1060704" y="18562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103120"/>
            <a:ext cx="1057960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7E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Await the result of the pushed screen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Future&lt;void&gt; _pickOption(BuildContext context) async {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result = await Navigator.push&lt;String&gt;(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context,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MaterialPageRoute(builder: (context) =&gt; const SelectionScreen()),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(result != null) {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ScaffoldMessenger.of(context).showSnackBar(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SnackBar(content: Text('You picked: $result')),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7E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Inside SelectionScreen, return a value when popping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ElevatedButton(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onPressed: () =&gt; Navigator.pop(context, 'Option A'),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child: const Text('Choose Option A'),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4" y="520294"/>
            <a:ext cx="285293" cy="28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setState() — Widget Setup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form of state: data that lives and updates inside a single StatefulWidget.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counter_screen.dart (part 1 of 2)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11091672" cy="4846320"/>
          </a:xfrm>
          <a:prstGeom prst="roundRect">
            <a:avLst>
              <a:gd name="adj" fmla="val 132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8562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18562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1060704" y="18562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103120"/>
            <a:ext cx="10579608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CounterScreen extends StatefulWidget {</a:t>
            </a:r>
            <a:pPr indent="0" marL="0">
              <a:lnSpc>
                <a:spcPct val="115000"/>
              </a:lnSpc>
              <a:buNone/>
            </a:pP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CounterScreen({super.key});</a:t>
            </a:r>
            <a:pPr indent="0" marL="0">
              <a:lnSpc>
                <a:spcPct val="115000"/>
              </a:lnSpc>
              <a:buNone/>
            </a:pP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F2C9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pPr indent="0" marL="0">
              <a:lnSpc>
                <a:spcPct val="115000"/>
              </a:lnSpc>
              <a:buNone/>
            </a:pP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State&lt;CounterScreen&gt; createState() =&gt; _CounterScreenState();</a:t>
            </a:r>
            <a:pPr indent="0" marL="0">
              <a:lnSpc>
                <a:spcPct val="115000"/>
              </a:lnSpc>
              <a:buNone/>
            </a:pP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_CounterScreenState extends State&lt;CounterScreen&gt; {</a:t>
            </a:r>
            <a:pPr indent="0" marL="0">
              <a:lnSpc>
                <a:spcPct val="115000"/>
              </a:lnSpc>
              <a:buNone/>
            </a:pP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_count = 0;</a:t>
            </a:r>
            <a:pPr indent="0" marL="0">
              <a:lnSpc>
                <a:spcPct val="115000"/>
              </a:lnSpc>
              <a:buNone/>
            </a:pP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_increment() {</a:t>
            </a:r>
            <a:pPr indent="0" marL="0">
              <a:lnSpc>
                <a:spcPct val="115000"/>
              </a:lnSpc>
              <a:buNone/>
            </a:pP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F2A6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setState(() {</a:t>
            </a:r>
            <a:pPr indent="0" marL="0">
              <a:lnSpc>
                <a:spcPct val="115000"/>
              </a:lnSpc>
              <a:buNone/>
            </a:pP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_count++;</a:t>
            </a:r>
            <a:pPr indent="0" marL="0">
              <a:lnSpc>
                <a:spcPct val="115000"/>
              </a:lnSpc>
              <a:buNone/>
            </a:pP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F2A6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pPr indent="0" marL="0">
              <a:lnSpc>
                <a:spcPct val="115000"/>
              </a:lnSpc>
              <a:buNone/>
            </a:pP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lnSpc>
                <a:spcPct val="115000"/>
              </a:lnSpc>
              <a:buNone/>
            </a:pP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7E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build() continues on the next slide →</a:t>
            </a:r>
            <a:pPr indent="0" marL="0">
              <a:lnSpc>
                <a:spcPct val="115000"/>
              </a:lnSpc>
              <a:buNone/>
            </a:pP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endParaRPr lang="en-US" sz="130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4" y="520294"/>
            <a:ext cx="285293" cy="28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setState() — Build Method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_count in build() means the UI updates the instant setState() runs.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counter_screen.dart (part 2 of 2 — inside _CounterScreenState)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11091672" cy="4846320"/>
          </a:xfrm>
          <a:prstGeom prst="roundRect">
            <a:avLst>
              <a:gd name="adj" fmla="val 132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8562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18562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1060704" y="18562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103120"/>
            <a:ext cx="10579608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C9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 build(BuildContext context) {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Scaffold(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appBar: AppBar(title: const Text('Counter')),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body: Center(child: Text('Count: $_count')),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floatingActionButton: FloatingActionButton(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onPressed: _increment,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child: const Icon(Icons.add),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),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4" y="520294"/>
            <a:ext cx="285293" cy="28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 — Step 1: The Model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App-wide state lives in a ChangeNotifier class that notifies listeners when it changes.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pubspec.yaml + cart_model.dart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4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8562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18562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1060704" y="18562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103120"/>
            <a:ext cx="1057960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4" dirty="0">
                <a:solidFill>
                  <a:srgbClr val="7E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pubspec.yaml</a:t>
            </a:r>
            <a:pPr indent="0" marL="0">
              <a:lnSpc>
                <a:spcPct val="115000"/>
              </a:lnSpc>
              <a:buNone/>
            </a:pPr>
            <a:endParaRPr lang="en-US" sz="11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dependencies:</a:t>
            </a:r>
            <a:pPr indent="0" marL="0">
              <a:lnSpc>
                <a:spcPct val="115000"/>
              </a:lnSpc>
              <a:buNone/>
            </a:pPr>
            <a:endParaRPr lang="en-US" sz="11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flutter:</a:t>
            </a:r>
            <a:pPr indent="0" marL="0">
              <a:lnSpc>
                <a:spcPct val="115000"/>
              </a:lnSpc>
              <a:buNone/>
            </a:pPr>
            <a:endParaRPr lang="en-US" sz="11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sdk: flutter</a:t>
            </a:r>
            <a:pPr indent="0" marL="0">
              <a:lnSpc>
                <a:spcPct val="115000"/>
              </a:lnSpc>
              <a:buNone/>
            </a:pPr>
            <a:endParaRPr lang="en-US" sz="11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4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provider: ^6.1.1</a:t>
            </a:r>
            <a:pPr indent="0" marL="0">
              <a:lnSpc>
                <a:spcPct val="115000"/>
              </a:lnSpc>
              <a:buNone/>
            </a:pPr>
            <a:endParaRPr lang="en-US" sz="11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4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4" dirty="0">
                <a:solidFill>
                  <a:srgbClr val="7E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cart_model.dart</a:t>
            </a:r>
            <a:pPr indent="0" marL="0">
              <a:lnSpc>
                <a:spcPct val="115000"/>
              </a:lnSpc>
              <a:buNone/>
            </a:pPr>
            <a:endParaRPr lang="en-US" sz="11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'package:flutter/foundation.dart';</a:t>
            </a:r>
            <a:pPr indent="0" marL="0">
              <a:lnSpc>
                <a:spcPct val="115000"/>
              </a:lnSpc>
              <a:buNone/>
            </a:pPr>
            <a:endParaRPr lang="en-US" sz="11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4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CartModel extends ChangeNotifier {</a:t>
            </a:r>
            <a:pPr indent="0" marL="0">
              <a:lnSpc>
                <a:spcPct val="115000"/>
              </a:lnSpc>
              <a:buNone/>
            </a:pPr>
            <a:endParaRPr lang="en-US" sz="11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4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List&lt;String&gt; _items = [];</a:t>
            </a:r>
            <a:pPr indent="0" marL="0">
              <a:lnSpc>
                <a:spcPct val="115000"/>
              </a:lnSpc>
              <a:buNone/>
            </a:pPr>
            <a:endParaRPr lang="en-US" sz="11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List&lt;String&gt; get items =&gt; _items;</a:t>
            </a:r>
            <a:pPr indent="0" marL="0">
              <a:lnSpc>
                <a:spcPct val="115000"/>
              </a:lnSpc>
              <a:buNone/>
            </a:pPr>
            <a:endParaRPr lang="en-US" sz="11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4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addItem(String item) {</a:t>
            </a:r>
            <a:pPr indent="0" marL="0">
              <a:lnSpc>
                <a:spcPct val="115000"/>
              </a:lnSpc>
              <a:buNone/>
            </a:pPr>
            <a:endParaRPr lang="en-US" sz="11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_items.add(item);</a:t>
            </a:r>
            <a:pPr indent="0" marL="0">
              <a:lnSpc>
                <a:spcPct val="115000"/>
              </a:lnSpc>
              <a:buNone/>
            </a:pPr>
            <a:endParaRPr lang="en-US" sz="11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4" dirty="0">
                <a:solidFill>
                  <a:srgbClr val="F2A6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notifyListeners();</a:t>
            </a:r>
            <a:pPr indent="0" marL="0">
              <a:lnSpc>
                <a:spcPct val="115000"/>
              </a:lnSpc>
              <a:buNone/>
            </a:pPr>
            <a:endParaRPr lang="en-US" sz="11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lnSpc>
                <a:spcPct val="115000"/>
              </a:lnSpc>
              <a:buNone/>
            </a:pPr>
            <a:endParaRPr lang="en-US" sz="11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endParaRPr lang="en-US" sz="115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4" y="520294"/>
            <a:ext cx="285293" cy="28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 — Step 2: Provide &amp; Consume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app once at the top, then read or update the model from any screen below it.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main.dart + cart_screen.dart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4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8562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18562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1060704" y="18562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103120"/>
            <a:ext cx="1057960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44" dirty="0">
                <a:solidFill>
                  <a:srgbClr val="7E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main.dart — provide it above the app</a:t>
            </a:r>
            <a:pPr indent="0" marL="0">
              <a:lnSpc>
                <a:spcPct val="115000"/>
              </a:lnSpc>
              <a:buNone/>
            </a:pPr>
            <a:endParaRPr lang="en-US" sz="94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4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main() {</a:t>
            </a:r>
            <a:pPr indent="0" marL="0">
              <a:lnSpc>
                <a:spcPct val="115000"/>
              </a:lnSpc>
              <a:buNone/>
            </a:pPr>
            <a:endParaRPr lang="en-US" sz="94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4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runApp(</a:t>
            </a:r>
            <a:pPr indent="0" marL="0">
              <a:lnSpc>
                <a:spcPct val="115000"/>
              </a:lnSpc>
              <a:buNone/>
            </a:pPr>
            <a:endParaRPr lang="en-US" sz="94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4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ChangeNotifierProvider(</a:t>
            </a:r>
            <a:pPr indent="0" marL="0">
              <a:lnSpc>
                <a:spcPct val="115000"/>
              </a:lnSpc>
              <a:buNone/>
            </a:pPr>
            <a:endParaRPr lang="en-US" sz="94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4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create: (context) =&gt; CartModel(),</a:t>
            </a:r>
            <a:pPr indent="0" marL="0">
              <a:lnSpc>
                <a:spcPct val="115000"/>
              </a:lnSpc>
              <a:buNone/>
            </a:pPr>
            <a:endParaRPr lang="en-US" sz="94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4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child: const MyApp(),</a:t>
            </a:r>
            <a:pPr indent="0" marL="0">
              <a:lnSpc>
                <a:spcPct val="115000"/>
              </a:lnSpc>
              <a:buNone/>
            </a:pPr>
            <a:endParaRPr lang="en-US" sz="94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4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pPr indent="0" marL="0">
              <a:lnSpc>
                <a:spcPct val="115000"/>
              </a:lnSpc>
              <a:buNone/>
            </a:pPr>
            <a:endParaRPr lang="en-US" sz="94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4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pPr indent="0" marL="0">
              <a:lnSpc>
                <a:spcPct val="115000"/>
              </a:lnSpc>
              <a:buNone/>
            </a:pPr>
            <a:endParaRPr lang="en-US" sz="94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4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endParaRPr lang="en-US" sz="94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44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4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44" dirty="0">
                <a:solidFill>
                  <a:srgbClr val="7E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cart_screen.dart — listen for changes</a:t>
            </a:r>
            <a:pPr indent="0" marL="0">
              <a:lnSpc>
                <a:spcPct val="115000"/>
              </a:lnSpc>
              <a:buNone/>
            </a:pPr>
            <a:endParaRPr lang="en-US" sz="94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4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Consumer&lt;CartModel&gt;(</a:t>
            </a:r>
            <a:pPr indent="0" marL="0">
              <a:lnSpc>
                <a:spcPct val="115000"/>
              </a:lnSpc>
              <a:buNone/>
            </a:pPr>
            <a:endParaRPr lang="en-US" sz="94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4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builder: (context, cart, child) {</a:t>
            </a:r>
            <a:pPr indent="0" marL="0">
              <a:lnSpc>
                <a:spcPct val="115000"/>
              </a:lnSpc>
              <a:buNone/>
            </a:pPr>
            <a:endParaRPr lang="en-US" sz="94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4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ListView.builder(</a:t>
            </a:r>
            <a:pPr indent="0" marL="0">
              <a:lnSpc>
                <a:spcPct val="115000"/>
              </a:lnSpc>
              <a:buNone/>
            </a:pPr>
            <a:endParaRPr lang="en-US" sz="94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4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itemCount: cart.items.length,</a:t>
            </a:r>
            <a:pPr indent="0" marL="0">
              <a:lnSpc>
                <a:spcPct val="115000"/>
              </a:lnSpc>
              <a:buNone/>
            </a:pPr>
            <a:endParaRPr lang="en-US" sz="94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4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itemBuilder: (context, i) =&gt; ListTile(title: Text(cart.items[i])),</a:t>
            </a:r>
            <a:pPr indent="0" marL="0">
              <a:lnSpc>
                <a:spcPct val="115000"/>
              </a:lnSpc>
              <a:buNone/>
            </a:pPr>
            <a:endParaRPr lang="en-US" sz="94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4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pPr indent="0" marL="0">
              <a:lnSpc>
                <a:spcPct val="115000"/>
              </a:lnSpc>
              <a:buNone/>
            </a:pPr>
            <a:endParaRPr lang="en-US" sz="94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4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pPr indent="0" marL="0">
              <a:lnSpc>
                <a:spcPct val="115000"/>
              </a:lnSpc>
              <a:buNone/>
            </a:pPr>
            <a:endParaRPr lang="en-US" sz="94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4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94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44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4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44" dirty="0">
                <a:solidFill>
                  <a:srgbClr val="7E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Update from anywhere, without rebuilding on listen</a:t>
            </a:r>
            <a:pPr indent="0" marL="0">
              <a:lnSpc>
                <a:spcPct val="115000"/>
              </a:lnSpc>
              <a:buNone/>
            </a:pPr>
            <a:endParaRPr lang="en-US" sz="94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4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context.read&lt;CartModel&gt;().addItem('New Item');</a:t>
            </a:r>
            <a:pPr indent="0" marL="0">
              <a:lnSpc>
                <a:spcPct val="115000"/>
              </a:lnSpc>
              <a:buNone/>
            </a:pPr>
            <a:endParaRPr lang="en-US" sz="94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4" y="520294"/>
            <a:ext cx="285293" cy="28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The Data Model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Dart class with a fromJson() factory to convert raw API data into a typed object.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models/post.dart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4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8562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18562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1060704" y="18562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103120"/>
            <a:ext cx="1057960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Post {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int id;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String title;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String body;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Post({required this.id, required this.title, required this.body});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factory Post.fromJson(Map&lt;String, dynamic&gt; json) {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Post(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id: json['id'],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title: json['title'],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body: json['body'],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Map&lt;String, dynamic&gt; toJson() =&gt; {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'id': id, 'title': title, 'body': body,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93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endParaRPr lang="en-US" sz="109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4" y="520294"/>
            <a:ext cx="285293" cy="28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Fetching Data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http package to make a GET request, then decode and map the JSON response.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pubspec.yaml + services/post_service.dart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4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8562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18562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1060704" y="18562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103120"/>
            <a:ext cx="1057960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9" dirty="0">
                <a:solidFill>
                  <a:srgbClr val="7E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pubspec.yaml</a:t>
            </a:r>
            <a:pPr indent="0" marL="0">
              <a:lnSpc>
                <a:spcPct val="115000"/>
              </a:lnSpc>
              <a:buNone/>
            </a:pPr>
            <a:endParaRPr lang="en-US" sz="103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9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dependencies:</a:t>
            </a:r>
            <a:pPr indent="0" marL="0">
              <a:lnSpc>
                <a:spcPct val="115000"/>
              </a:lnSpc>
              <a:buNone/>
            </a:pPr>
            <a:endParaRPr lang="en-US" sz="103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9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http: ^1.2.0</a:t>
            </a:r>
            <a:pPr indent="0" marL="0">
              <a:lnSpc>
                <a:spcPct val="115000"/>
              </a:lnSpc>
              <a:buNone/>
            </a:pPr>
            <a:endParaRPr lang="en-US" sz="103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9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3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9" dirty="0">
                <a:solidFill>
                  <a:srgbClr val="7E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post_service.dart</a:t>
            </a:r>
            <a:pPr indent="0" marL="0">
              <a:lnSpc>
                <a:spcPct val="115000"/>
              </a:lnSpc>
              <a:buNone/>
            </a:pPr>
            <a:endParaRPr lang="en-US" sz="103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9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'dart:convert';</a:t>
            </a:r>
            <a:pPr indent="0" marL="0">
              <a:lnSpc>
                <a:spcPct val="115000"/>
              </a:lnSpc>
              <a:buNone/>
            </a:pPr>
            <a:endParaRPr lang="en-US" sz="103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9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'package:http/http.dart' as http;</a:t>
            </a:r>
            <a:pPr indent="0" marL="0">
              <a:lnSpc>
                <a:spcPct val="115000"/>
              </a:lnSpc>
              <a:buNone/>
            </a:pPr>
            <a:endParaRPr lang="en-US" sz="103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9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'../models/post.dart';</a:t>
            </a:r>
            <a:pPr indent="0" marL="0">
              <a:lnSpc>
                <a:spcPct val="115000"/>
              </a:lnSpc>
              <a:buNone/>
            </a:pPr>
            <a:endParaRPr lang="en-US" sz="103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9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3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9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Future&lt;List&lt;Post&gt;&gt; fetchPosts() async {</a:t>
            </a:r>
            <a:pPr indent="0" marL="0">
              <a:lnSpc>
                <a:spcPct val="115000"/>
              </a:lnSpc>
              <a:buNone/>
            </a:pPr>
            <a:endParaRPr lang="en-US" sz="103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9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uri = Uri.parse('https://jsonplaceholder.typicode.com/posts');</a:t>
            </a:r>
            <a:pPr indent="0" marL="0">
              <a:lnSpc>
                <a:spcPct val="115000"/>
              </a:lnSpc>
              <a:buNone/>
            </a:pPr>
            <a:endParaRPr lang="en-US" sz="103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9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response = await http.get(uri);</a:t>
            </a:r>
            <a:pPr indent="0" marL="0">
              <a:lnSpc>
                <a:spcPct val="115000"/>
              </a:lnSpc>
              <a:buNone/>
            </a:pPr>
            <a:endParaRPr lang="en-US" sz="103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9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3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9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(response.statusCode == 200) {</a:t>
            </a:r>
            <a:pPr indent="0" marL="0">
              <a:lnSpc>
                <a:spcPct val="115000"/>
              </a:lnSpc>
              <a:buNone/>
            </a:pPr>
            <a:endParaRPr lang="en-US" sz="103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9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 List data = jsonDecode(response.body);</a:t>
            </a:r>
            <a:pPr indent="0" marL="0">
              <a:lnSpc>
                <a:spcPct val="115000"/>
              </a:lnSpc>
              <a:buNone/>
            </a:pPr>
            <a:endParaRPr lang="en-US" sz="103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9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data.map((json) =&gt; Post.fromJson(json)).toList();</a:t>
            </a:r>
            <a:pPr indent="0" marL="0">
              <a:lnSpc>
                <a:spcPct val="115000"/>
              </a:lnSpc>
              <a:buNone/>
            </a:pPr>
            <a:endParaRPr lang="en-US" sz="103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9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pPr indent="0" marL="0">
              <a:lnSpc>
                <a:spcPct val="115000"/>
              </a:lnSpc>
              <a:buNone/>
            </a:pPr>
            <a:endParaRPr lang="en-US" sz="103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9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Exception('Failed to load posts: ${response.statusCode}');</a:t>
            </a:r>
            <a:pPr indent="0" marL="0">
              <a:lnSpc>
                <a:spcPct val="115000"/>
              </a:lnSpc>
              <a:buNone/>
            </a:pPr>
            <a:endParaRPr lang="en-US" sz="103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9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lnSpc>
                <a:spcPct val="115000"/>
              </a:lnSpc>
              <a:buNone/>
            </a:pPr>
            <a:endParaRPr lang="en-US" sz="103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9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endParaRPr lang="en-US" sz="1039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4" y="520294"/>
            <a:ext cx="285293" cy="28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FutureBuilder — State Setup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off the fetch once in initState() and store it in a Future field.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screens/post_list_screen.dart (part 1 of 2)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11091672" cy="4206240"/>
          </a:xfrm>
          <a:prstGeom prst="roundRect">
            <a:avLst>
              <a:gd name="adj" fmla="val 1522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8562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18562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1060704" y="18562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103120"/>
            <a:ext cx="1057960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1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PostListScreen extends StatefulWidget {</a:t>
            </a:r>
            <a:pPr indent="0" marL="0">
              <a:lnSpc>
                <a:spcPct val="115000"/>
              </a:lnSpc>
              <a:buNone/>
            </a:pPr>
            <a:endParaRPr lang="en-US" sz="11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1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PostListScreen({super.key});</a:t>
            </a:r>
            <a:pPr indent="0" marL="0">
              <a:lnSpc>
                <a:spcPct val="115000"/>
              </a:lnSpc>
              <a:buNone/>
            </a:pPr>
            <a:endParaRPr lang="en-US" sz="11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1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10" dirty="0">
                <a:solidFill>
                  <a:srgbClr val="F2C9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pPr indent="0" marL="0">
              <a:lnSpc>
                <a:spcPct val="115000"/>
              </a:lnSpc>
              <a:buNone/>
            </a:pPr>
            <a:endParaRPr lang="en-US" sz="11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1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State&lt;PostListScreen&gt; createState() =&gt; _PostListScreenState();</a:t>
            </a:r>
            <a:pPr indent="0" marL="0">
              <a:lnSpc>
                <a:spcPct val="115000"/>
              </a:lnSpc>
              <a:buNone/>
            </a:pPr>
            <a:endParaRPr lang="en-US" sz="11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1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endParaRPr lang="en-US" sz="11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1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1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_PostListScreenState extends State&lt;PostListScreen&gt; {</a:t>
            </a:r>
            <a:pPr indent="0" marL="0">
              <a:lnSpc>
                <a:spcPct val="115000"/>
              </a:lnSpc>
              <a:buNone/>
            </a:pPr>
            <a:endParaRPr lang="en-US" sz="11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10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late Future&lt;List&lt;Post&gt;&gt; _futurePosts;</a:t>
            </a:r>
            <a:pPr indent="0" marL="0">
              <a:lnSpc>
                <a:spcPct val="115000"/>
              </a:lnSpc>
              <a:buNone/>
            </a:pPr>
            <a:endParaRPr lang="en-US" sz="11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1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10" dirty="0">
                <a:solidFill>
                  <a:srgbClr val="F2C9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pPr indent="0" marL="0">
              <a:lnSpc>
                <a:spcPct val="115000"/>
              </a:lnSpc>
              <a:buNone/>
            </a:pPr>
            <a:endParaRPr lang="en-US" sz="11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1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initState() {</a:t>
            </a:r>
            <a:pPr indent="0" marL="0">
              <a:lnSpc>
                <a:spcPct val="115000"/>
              </a:lnSpc>
              <a:buNone/>
            </a:pPr>
            <a:endParaRPr lang="en-US" sz="11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1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super.initState();</a:t>
            </a:r>
            <a:pPr indent="0" marL="0">
              <a:lnSpc>
                <a:spcPct val="115000"/>
              </a:lnSpc>
              <a:buNone/>
            </a:pPr>
            <a:endParaRPr lang="en-US" sz="11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1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_futurePosts = fetchPosts();</a:t>
            </a:r>
            <a:pPr indent="0" marL="0">
              <a:lnSpc>
                <a:spcPct val="115000"/>
              </a:lnSpc>
              <a:buNone/>
            </a:pPr>
            <a:endParaRPr lang="en-US" sz="11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1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lnSpc>
                <a:spcPct val="115000"/>
              </a:lnSpc>
              <a:buNone/>
            </a:pPr>
            <a:endParaRPr lang="en-US" sz="11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10" dirty="0">
                <a:solidFill>
                  <a:srgbClr val="7E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build() continues on the next slide →</a:t>
            </a:r>
            <a:pPr indent="0" marL="0">
              <a:lnSpc>
                <a:spcPct val="115000"/>
              </a:lnSpc>
              <a:buNone/>
            </a:pPr>
            <a:endParaRPr lang="en-US" sz="111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1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endParaRPr lang="en-US" sz="11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4" y="520294"/>
            <a:ext cx="285293" cy="28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FutureBuilder — Building the UI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FutureBuilder turns a Future into loading, error, and success UI states automatically.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screens/post_list_screen.dart (part 2 of 2 — inside the class above)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11091672" cy="4846320"/>
          </a:xfrm>
          <a:prstGeom prst="roundRect">
            <a:avLst>
              <a:gd name="adj" fmla="val 132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8562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18562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1060704" y="18562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103120"/>
            <a:ext cx="10579608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4" dirty="0">
                <a:solidFill>
                  <a:srgbClr val="F2C9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pPr indent="0" marL="0">
              <a:lnSpc>
                <a:spcPct val="115000"/>
              </a:lnSpc>
              <a:buNone/>
            </a:pPr>
            <a:endParaRPr lang="en-US" sz="8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 build(BuildContext context) {</a:t>
            </a:r>
            <a:pPr indent="0" marL="0">
              <a:lnSpc>
                <a:spcPct val="115000"/>
              </a:lnSpc>
              <a:buNone/>
            </a:pPr>
            <a:endParaRPr lang="en-US" sz="8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Scaffold(</a:t>
            </a:r>
            <a:pPr indent="0" marL="0">
              <a:lnSpc>
                <a:spcPct val="115000"/>
              </a:lnSpc>
              <a:buNone/>
            </a:pPr>
            <a:endParaRPr lang="en-US" sz="8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appBar: AppBar(title: const Text('Posts')),</a:t>
            </a:r>
            <a:pPr indent="0" marL="0">
              <a:lnSpc>
                <a:spcPct val="115000"/>
              </a:lnSpc>
              <a:buNone/>
            </a:pPr>
            <a:endParaRPr lang="en-US" sz="8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body: FutureBuilder&lt;List&lt;Post&gt;&gt;(</a:t>
            </a:r>
            <a:pPr indent="0" marL="0">
              <a:lnSpc>
                <a:spcPct val="115000"/>
              </a:lnSpc>
              <a:buNone/>
            </a:pPr>
            <a:endParaRPr lang="en-US" sz="8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future: _futurePosts,</a:t>
            </a:r>
            <a:pPr indent="0" marL="0">
              <a:lnSpc>
                <a:spcPct val="115000"/>
              </a:lnSpc>
              <a:buNone/>
            </a:pPr>
            <a:endParaRPr lang="en-US" sz="8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builder: (context, snapshot) {</a:t>
            </a:r>
            <a:pPr indent="0" marL="0">
              <a:lnSpc>
                <a:spcPct val="115000"/>
              </a:lnSpc>
              <a:buNone/>
            </a:pPr>
            <a:endParaRPr lang="en-US" sz="8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if (snapshot.connectionState == ConnectionState.waiting) {</a:t>
            </a:r>
            <a:pPr indent="0" marL="0">
              <a:lnSpc>
                <a:spcPct val="115000"/>
              </a:lnSpc>
              <a:buNone/>
            </a:pPr>
            <a:endParaRPr lang="en-US" sz="8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const Center(child: CircularProgressIndicator());</a:t>
            </a:r>
            <a:pPr indent="0" marL="0">
              <a:lnSpc>
                <a:spcPct val="115000"/>
              </a:lnSpc>
              <a:buNone/>
            </a:pPr>
            <a:endParaRPr lang="en-US" sz="8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}</a:t>
            </a:r>
            <a:pPr indent="0" marL="0">
              <a:lnSpc>
                <a:spcPct val="115000"/>
              </a:lnSpc>
              <a:buNone/>
            </a:pPr>
            <a:endParaRPr lang="en-US" sz="8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if (snapshot.hasError) {</a:t>
            </a:r>
            <a:pPr indent="0" marL="0">
              <a:lnSpc>
                <a:spcPct val="115000"/>
              </a:lnSpc>
              <a:buNone/>
            </a:pPr>
            <a:endParaRPr lang="en-US" sz="8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Center(child: Text('Error: ${snapshot.error}'));</a:t>
            </a:r>
            <a:pPr indent="0" marL="0">
              <a:lnSpc>
                <a:spcPct val="115000"/>
              </a:lnSpc>
              <a:buNone/>
            </a:pPr>
            <a:endParaRPr lang="en-US" sz="8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}</a:t>
            </a:r>
            <a:pPr indent="0" marL="0">
              <a:lnSpc>
                <a:spcPct val="115000"/>
              </a:lnSpc>
              <a:buNone/>
            </a:pPr>
            <a:endParaRPr lang="en-US" sz="8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final posts = snapshot.data!;</a:t>
            </a:r>
            <a:pPr indent="0" marL="0">
              <a:lnSpc>
                <a:spcPct val="115000"/>
              </a:lnSpc>
              <a:buNone/>
            </a:pPr>
            <a:endParaRPr lang="en-US" sz="8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return ListView.builder(</a:t>
            </a:r>
            <a:pPr indent="0" marL="0">
              <a:lnSpc>
                <a:spcPct val="115000"/>
              </a:lnSpc>
              <a:buNone/>
            </a:pPr>
            <a:endParaRPr lang="en-US" sz="8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itemCount: posts.length,</a:t>
            </a:r>
            <a:pPr indent="0" marL="0">
              <a:lnSpc>
                <a:spcPct val="115000"/>
              </a:lnSpc>
              <a:buNone/>
            </a:pPr>
            <a:endParaRPr lang="en-US" sz="8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itemBuilder: (context, i) =&gt; ListTile(</a:t>
            </a:r>
            <a:pPr indent="0" marL="0">
              <a:lnSpc>
                <a:spcPct val="115000"/>
              </a:lnSpc>
              <a:buNone/>
            </a:pPr>
            <a:endParaRPr lang="en-US" sz="8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title: Text(posts[i].title),</a:t>
            </a:r>
            <a:pPr indent="0" marL="0">
              <a:lnSpc>
                <a:spcPct val="115000"/>
              </a:lnSpc>
              <a:buNone/>
            </a:pPr>
            <a:endParaRPr lang="en-US" sz="8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subtitle: Text(posts[i].body),</a:t>
            </a:r>
            <a:pPr indent="0" marL="0">
              <a:lnSpc>
                <a:spcPct val="115000"/>
              </a:lnSpc>
              <a:buNone/>
            </a:pPr>
            <a:endParaRPr lang="en-US" sz="8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),</a:t>
            </a:r>
            <a:pPr indent="0" marL="0">
              <a:lnSpc>
                <a:spcPct val="115000"/>
              </a:lnSpc>
              <a:buNone/>
            </a:pPr>
            <a:endParaRPr lang="en-US" sz="8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);</a:t>
            </a:r>
            <a:pPr indent="0" marL="0">
              <a:lnSpc>
                <a:spcPct val="115000"/>
              </a:lnSpc>
              <a:buNone/>
            </a:pPr>
            <a:endParaRPr lang="en-US" sz="8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},</a:t>
            </a:r>
            <a:pPr indent="0" marL="0">
              <a:lnSpc>
                <a:spcPct val="115000"/>
              </a:lnSpc>
              <a:buNone/>
            </a:pPr>
            <a:endParaRPr lang="en-US" sz="8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),</a:t>
            </a:r>
            <a:pPr indent="0" marL="0">
              <a:lnSpc>
                <a:spcPct val="115000"/>
              </a:lnSpc>
              <a:buNone/>
            </a:pPr>
            <a:endParaRPr lang="en-US" sz="8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pPr indent="0" marL="0">
              <a:lnSpc>
                <a:spcPct val="115000"/>
              </a:lnSpc>
              <a:buNone/>
            </a:pPr>
            <a:endParaRPr lang="en-US" sz="8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lnSpc>
                <a:spcPct val="115000"/>
              </a:lnSpc>
              <a:buNone/>
            </a:pPr>
            <a:endParaRPr lang="en-US" sz="8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4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endParaRPr lang="en-US" sz="85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4" y="520294"/>
            <a:ext cx="285293" cy="28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Project Setup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Flutter app to Firebase once, before using any Firebase service.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11091672" cy="1828800"/>
          </a:xfrm>
          <a:prstGeom prst="roundRect">
            <a:avLst>
              <a:gd name="adj" fmla="val 35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8562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18562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1060704" y="18562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103120"/>
            <a:ext cx="10579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5" dirty="0">
                <a:solidFill>
                  <a:srgbClr val="7E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the CLIs (one time)</a:t>
            </a:r>
            <a:pPr indent="0" marL="0">
              <a:lnSpc>
                <a:spcPct val="115000"/>
              </a:lnSpc>
              <a:buNone/>
            </a:pPr>
            <a:endParaRPr lang="en-US" sz="93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5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firebase-tools</a:t>
            </a:r>
            <a:pPr indent="0" marL="0">
              <a:lnSpc>
                <a:spcPct val="115000"/>
              </a:lnSpc>
              <a:buNone/>
            </a:pPr>
            <a:endParaRPr lang="en-US" sz="93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5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dart pub global activate flutterfire_cli</a:t>
            </a:r>
            <a:pPr indent="0" marL="0">
              <a:lnSpc>
                <a:spcPct val="115000"/>
              </a:lnSpc>
              <a:buNone/>
            </a:pPr>
            <a:endParaRPr lang="en-US" sz="93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5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5" dirty="0">
                <a:solidFill>
                  <a:srgbClr val="7E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Log in and connect this project</a:t>
            </a:r>
            <a:pPr indent="0" marL="0">
              <a:lnSpc>
                <a:spcPct val="115000"/>
              </a:lnSpc>
              <a:buNone/>
            </a:pPr>
            <a:endParaRPr lang="en-US" sz="93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5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login</a:t>
            </a:r>
            <a:pPr indent="0" marL="0">
              <a:lnSpc>
                <a:spcPct val="115000"/>
              </a:lnSpc>
              <a:buNone/>
            </a:pPr>
            <a:endParaRPr lang="en-US" sz="93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5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flutterfire configure</a:t>
            </a:r>
            <a:pPr indent="0" marL="0">
              <a:lnSpc>
                <a:spcPct val="115000"/>
              </a:lnSpc>
              <a:buNone/>
            </a:pPr>
            <a:endParaRPr lang="en-US" sz="935" dirty="0"/>
          </a:p>
        </p:txBody>
      </p:sp>
      <p:sp>
        <p:nvSpPr>
          <p:cNvPr id="13" name="Text 10"/>
          <p:cNvSpPr/>
          <p:nvPr/>
        </p:nvSpPr>
        <p:spPr>
          <a:xfrm>
            <a:off x="548640" y="3703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main.dart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977640"/>
            <a:ext cx="11091672" cy="2697480"/>
          </a:xfrm>
          <a:prstGeom prst="roundRect">
            <a:avLst>
              <a:gd name="adj" fmla="val 237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31520" y="41422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3"/>
          <p:cNvSpPr/>
          <p:nvPr/>
        </p:nvSpPr>
        <p:spPr>
          <a:xfrm>
            <a:off x="896112" y="41422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1060704" y="41422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5"/>
          <p:cNvSpPr/>
          <p:nvPr/>
        </p:nvSpPr>
        <p:spPr>
          <a:xfrm>
            <a:off x="804672" y="4389120"/>
            <a:ext cx="1057960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37" dirty="0">
                <a:solidFill>
                  <a:srgbClr val="7E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pubspec.yaml</a:t>
            </a:r>
            <a:pPr indent="0" marL="0">
              <a:lnSpc>
                <a:spcPct val="115000"/>
              </a:lnSpc>
              <a:buNone/>
            </a:pPr>
            <a:endParaRPr lang="en-US" sz="73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37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dependencies:</a:t>
            </a:r>
            <a:pPr indent="0" marL="0">
              <a:lnSpc>
                <a:spcPct val="115000"/>
              </a:lnSpc>
              <a:buNone/>
            </a:pPr>
            <a:endParaRPr lang="en-US" sz="73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37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firebase_core: ^3.6.0</a:t>
            </a:r>
            <a:pPr indent="0" marL="0">
              <a:lnSpc>
                <a:spcPct val="115000"/>
              </a:lnSpc>
              <a:buNone/>
            </a:pPr>
            <a:endParaRPr lang="en-US" sz="73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37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cloud_firestore: ^5.4.4</a:t>
            </a:r>
            <a:pPr indent="0" marL="0">
              <a:lnSpc>
                <a:spcPct val="115000"/>
              </a:lnSpc>
              <a:buNone/>
            </a:pPr>
            <a:endParaRPr lang="en-US" sz="73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37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3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37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'package:firebase_core/firebase_core.dart';</a:t>
            </a:r>
            <a:pPr indent="0" marL="0">
              <a:lnSpc>
                <a:spcPct val="115000"/>
              </a:lnSpc>
              <a:buNone/>
            </a:pPr>
            <a:endParaRPr lang="en-US" sz="73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37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'firebase_options.dart';</a:t>
            </a:r>
            <a:pPr indent="0" marL="0">
              <a:lnSpc>
                <a:spcPct val="115000"/>
              </a:lnSpc>
              <a:buNone/>
            </a:pPr>
            <a:endParaRPr lang="en-US" sz="73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37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3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37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main() async {</a:t>
            </a:r>
            <a:pPr indent="0" marL="0">
              <a:lnSpc>
                <a:spcPct val="115000"/>
              </a:lnSpc>
              <a:buNone/>
            </a:pPr>
            <a:endParaRPr lang="en-US" sz="73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37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WidgetsFlutterBinding.ensureInitialized();</a:t>
            </a:r>
            <a:pPr indent="0" marL="0">
              <a:lnSpc>
                <a:spcPct val="115000"/>
              </a:lnSpc>
              <a:buNone/>
            </a:pPr>
            <a:endParaRPr lang="en-US" sz="73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37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Firebase.initializeApp(</a:t>
            </a:r>
            <a:pPr indent="0" marL="0">
              <a:lnSpc>
                <a:spcPct val="115000"/>
              </a:lnSpc>
              <a:buNone/>
            </a:pPr>
            <a:endParaRPr lang="en-US" sz="73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37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options: DefaultFirebaseOptions.currentPlatform,</a:t>
            </a:r>
            <a:pPr indent="0" marL="0">
              <a:lnSpc>
                <a:spcPct val="115000"/>
              </a:lnSpc>
              <a:buNone/>
            </a:pPr>
            <a:endParaRPr lang="en-US" sz="73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37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pPr indent="0" marL="0">
              <a:lnSpc>
                <a:spcPct val="115000"/>
              </a:lnSpc>
              <a:buNone/>
            </a:pPr>
            <a:endParaRPr lang="en-US" sz="73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37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runApp(const MyApp());</a:t>
            </a:r>
            <a:pPr indent="0" marL="0">
              <a:lnSpc>
                <a:spcPct val="115000"/>
              </a:lnSpc>
              <a:buNone/>
            </a:pPr>
            <a:endParaRPr lang="en-US" sz="73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37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endParaRPr lang="en-US" sz="737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4" y="520294"/>
            <a:ext cx="285293" cy="28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Firestore — Create &amp; Read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document, then read the whole collection back.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services/notes_service.dart (part 1 of 2)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11091672" cy="4846320"/>
          </a:xfrm>
          <a:prstGeom prst="roundRect">
            <a:avLst>
              <a:gd name="adj" fmla="val 132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8562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18562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1060704" y="18562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103120"/>
            <a:ext cx="10579608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notesRef = FirebaseFirestore.instance.collection('notes');</a:t>
            </a:r>
            <a:pPr indent="0" marL="0">
              <a:lnSpc>
                <a:spcPct val="115000"/>
              </a:lnSpc>
              <a:buNone/>
            </a:pP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7E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</a:t>
            </a:r>
            <a:pPr indent="0" marL="0">
              <a:lnSpc>
                <a:spcPct val="115000"/>
              </a:lnSpc>
              <a:buNone/>
            </a:pP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Future&lt;void&gt; addNote(String title) async {</a:t>
            </a:r>
            <a:pPr indent="0" marL="0">
              <a:lnSpc>
                <a:spcPct val="115000"/>
              </a:lnSpc>
              <a:buNone/>
            </a:pP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notesRef.add({</a:t>
            </a:r>
            <a:pPr indent="0" marL="0">
              <a:lnSpc>
                <a:spcPct val="115000"/>
              </a:lnSpc>
              <a:buNone/>
            </a:pP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'title': title,</a:t>
            </a:r>
            <a:pPr indent="0" marL="0">
              <a:lnSpc>
                <a:spcPct val="115000"/>
              </a:lnSpc>
              <a:buNone/>
            </a:pP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'createdAt': FieldValue.serverTimestamp(),</a:t>
            </a:r>
            <a:pPr indent="0" marL="0">
              <a:lnSpc>
                <a:spcPct val="115000"/>
              </a:lnSpc>
              <a:buNone/>
            </a:pP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pPr indent="0" marL="0">
              <a:lnSpc>
                <a:spcPct val="115000"/>
              </a:lnSpc>
              <a:buNone/>
            </a:pP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7E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 once</a:t>
            </a:r>
            <a:pPr indent="0" marL="0">
              <a:lnSpc>
                <a:spcPct val="115000"/>
              </a:lnSpc>
              <a:buNone/>
            </a:pP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Future&lt;void&gt; printAllNotes() async {</a:t>
            </a:r>
            <a:pPr indent="0" marL="0">
              <a:lnSpc>
                <a:spcPct val="115000"/>
              </a:lnSpc>
              <a:buNone/>
            </a:pP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snapshot = await notesRef.get();</a:t>
            </a:r>
            <a:pPr indent="0" marL="0">
              <a:lnSpc>
                <a:spcPct val="115000"/>
              </a:lnSpc>
              <a:buNone/>
            </a:pP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(final doc in snapshot.docs) {</a:t>
            </a:r>
            <a:pPr indent="0" marL="0">
              <a:lnSpc>
                <a:spcPct val="115000"/>
              </a:lnSpc>
              <a:buNone/>
            </a:pP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print(doc.data());</a:t>
            </a:r>
            <a:pPr indent="0" marL="0">
              <a:lnSpc>
                <a:spcPct val="115000"/>
              </a:lnSpc>
              <a:buNone/>
            </a:pP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lnSpc>
                <a:spcPct val="115000"/>
              </a:lnSpc>
              <a:buNone/>
            </a:pPr>
            <a:endParaRPr lang="en-US" sz="13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6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endParaRPr lang="en-US" sz="1306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4" y="520294"/>
            <a:ext cx="285293" cy="28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Firestore — Update &amp; Delete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 document by its ID to modify or remove it.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services/notes_service.dart (part 2 of 2 — same file as above)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11091672" cy="4846320"/>
          </a:xfrm>
          <a:prstGeom prst="roundRect">
            <a:avLst>
              <a:gd name="adj" fmla="val 132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8562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18562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1060704" y="18562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103120"/>
            <a:ext cx="10579608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7E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Update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Future&lt;void&gt; renameNote(String docId, String newTitle) async {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notesRef.doc(docId).update({'title': newTitle});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7E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Delete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Future&lt;void&gt; deleteNote(String docId) async {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notesRef.doc(docId).delete();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4" y="520294"/>
            <a:ext cx="285293" cy="28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Live Updates — Screen Setup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snapshots() emits a new value every time the data changes — no manual refresh needed.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screens/notes_screen.dart (part 1 of 2)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11091672" cy="4846320"/>
          </a:xfrm>
          <a:prstGeom prst="roundRect">
            <a:avLst>
              <a:gd name="adj" fmla="val 132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8562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18562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1060704" y="18562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103120"/>
            <a:ext cx="10579608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87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NotesScreen extends StatelessWidget {</a:t>
            </a:r>
            <a:pPr indent="0" marL="0">
              <a:lnSpc>
                <a:spcPct val="115000"/>
              </a:lnSpc>
              <a:buNone/>
            </a:pPr>
            <a:endParaRPr lang="en-US" sz="138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7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NotesScreen({super.key});</a:t>
            </a:r>
            <a:pPr indent="0" marL="0">
              <a:lnSpc>
                <a:spcPct val="115000"/>
              </a:lnSpc>
              <a:buNone/>
            </a:pPr>
            <a:endParaRPr lang="en-US" sz="138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7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8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7" dirty="0">
                <a:solidFill>
                  <a:srgbClr val="F2C9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pPr indent="0" marL="0">
              <a:lnSpc>
                <a:spcPct val="115000"/>
              </a:lnSpc>
              <a:buNone/>
            </a:pPr>
            <a:endParaRPr lang="en-US" sz="138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7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 build(BuildContext context) {</a:t>
            </a:r>
            <a:pPr indent="0" marL="0">
              <a:lnSpc>
                <a:spcPct val="115000"/>
              </a:lnSpc>
              <a:buNone/>
            </a:pPr>
            <a:endParaRPr lang="en-US" sz="138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7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 notesRef = FirebaseFirestore.instance.collection('notes');</a:t>
            </a:r>
            <a:pPr indent="0" marL="0">
              <a:lnSpc>
                <a:spcPct val="115000"/>
              </a:lnSpc>
              <a:buNone/>
            </a:pPr>
            <a:endParaRPr lang="en-US" sz="138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7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8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7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Scaffold(</a:t>
            </a:r>
            <a:pPr indent="0" marL="0">
              <a:lnSpc>
                <a:spcPct val="115000"/>
              </a:lnSpc>
              <a:buNone/>
            </a:pPr>
            <a:endParaRPr lang="en-US" sz="138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7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appBar: AppBar(title: const Text('Notes')),</a:t>
            </a:r>
            <a:pPr indent="0" marL="0">
              <a:lnSpc>
                <a:spcPct val="115000"/>
              </a:lnSpc>
              <a:buNone/>
            </a:pPr>
            <a:endParaRPr lang="en-US" sz="138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7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body: StreamBuilder&lt;QuerySnapshot&gt;(</a:t>
            </a:r>
            <a:pPr indent="0" marL="0">
              <a:lnSpc>
                <a:spcPct val="115000"/>
              </a:lnSpc>
              <a:buNone/>
            </a:pPr>
            <a:endParaRPr lang="en-US" sz="138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7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stream: notesRef.orderBy('createdAt').snapshots(),</a:t>
            </a:r>
            <a:pPr indent="0" marL="0">
              <a:lnSpc>
                <a:spcPct val="115000"/>
              </a:lnSpc>
              <a:buNone/>
            </a:pPr>
            <a:endParaRPr lang="en-US" sz="138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7" dirty="0">
                <a:solidFill>
                  <a:srgbClr val="7E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builder continues on the next slide →</a:t>
            </a:r>
            <a:pPr indent="0" marL="0">
              <a:lnSpc>
                <a:spcPct val="115000"/>
              </a:lnSpc>
              <a:buNone/>
            </a:pPr>
            <a:endParaRPr lang="en-US" sz="138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7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),</a:t>
            </a:r>
            <a:pPr indent="0" marL="0">
              <a:lnSpc>
                <a:spcPct val="115000"/>
              </a:lnSpc>
              <a:buNone/>
            </a:pPr>
            <a:endParaRPr lang="en-US" sz="138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7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pPr indent="0" marL="0">
              <a:lnSpc>
                <a:spcPct val="115000"/>
              </a:lnSpc>
              <a:buNone/>
            </a:pPr>
            <a:endParaRPr lang="en-US" sz="138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7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lnSpc>
                <a:spcPct val="115000"/>
              </a:lnSpc>
              <a:buNone/>
            </a:pPr>
            <a:endParaRPr lang="en-US" sz="138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7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endParaRPr lang="en-US" sz="1387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4" y="520294"/>
            <a:ext cx="285293" cy="28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Live Updates — Building the UI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builder callback re-runs automatically every time Firestore pushes new data.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screens/notes_screen.dart (part 2 of 2 — the StreamBuilder's builder)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11091672" cy="4846320"/>
          </a:xfrm>
          <a:prstGeom prst="roundRect">
            <a:avLst>
              <a:gd name="adj" fmla="val 132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8562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18562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1060704" y="18562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103120"/>
            <a:ext cx="10579608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builder: (context, snapshot) {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(!snapshot.hasData) {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const Center(child: CircularProgressIndicator());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docs = snapshot.data!.docs;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ListView.builder(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itemCount: docs.length,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itemBuilder: (context, i) {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final data = docs[i].data() as Map&lt;String, dynamic&gt;;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ListTile(title: Text(data['title'] ?? ''));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4" y="520294"/>
            <a:ext cx="285293" cy="28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(Optional): Email/Password Auth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users up, sign them in, and react to auth state changes anywhere in the app.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services/auth_service.dart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11091672" cy="4846320"/>
          </a:xfrm>
          <a:prstGeom prst="roundRect">
            <a:avLst>
              <a:gd name="adj" fmla="val 132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8562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18562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1060704" y="18562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103120"/>
            <a:ext cx="10579608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88" dirty="0">
                <a:solidFill>
                  <a:srgbClr val="7E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pubspec.yaml</a:t>
            </a:r>
            <a:pPr indent="0" marL="0">
              <a:lnSpc>
                <a:spcPct val="115000"/>
              </a:lnSpc>
              <a:buNone/>
            </a:pPr>
            <a:endParaRPr lang="en-US" sz="8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8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dependencies:</a:t>
            </a:r>
            <a:pPr indent="0" marL="0">
              <a:lnSpc>
                <a:spcPct val="115000"/>
              </a:lnSpc>
              <a:buNone/>
            </a:pPr>
            <a:endParaRPr lang="en-US" sz="8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8" dirty="0">
                <a:solidFill>
                  <a:srgbClr val="82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firebase_auth: ^5.3.1</a:t>
            </a:r>
            <a:pPr indent="0" marL="0">
              <a:lnSpc>
                <a:spcPct val="115000"/>
              </a:lnSpc>
              <a:buNone/>
            </a:pPr>
            <a:endParaRPr lang="en-US" sz="8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8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8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'package:firebase_auth/firebase_auth.dart';</a:t>
            </a:r>
            <a:pPr indent="0" marL="0">
              <a:lnSpc>
                <a:spcPct val="115000"/>
              </a:lnSpc>
              <a:buNone/>
            </a:pPr>
            <a:endParaRPr lang="en-US" sz="8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8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auth = FirebaseAuth.instance;</a:t>
            </a:r>
            <a:pPr indent="0" marL="0">
              <a:lnSpc>
                <a:spcPct val="115000"/>
              </a:lnSpc>
              <a:buNone/>
            </a:pPr>
            <a:endParaRPr lang="en-US" sz="8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8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8" dirty="0">
                <a:solidFill>
                  <a:srgbClr val="7E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Sign up</a:t>
            </a:r>
            <a:pPr indent="0" marL="0">
              <a:lnSpc>
                <a:spcPct val="115000"/>
              </a:lnSpc>
              <a:buNone/>
            </a:pPr>
            <a:endParaRPr lang="en-US" sz="8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8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Future&lt;void&gt; signUp(String email, String password) async {</a:t>
            </a:r>
            <a:pPr indent="0" marL="0">
              <a:lnSpc>
                <a:spcPct val="115000"/>
              </a:lnSpc>
              <a:buNone/>
            </a:pPr>
            <a:endParaRPr lang="en-US" sz="8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8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auth.createUserWithEmailAndPassword(email: email, password: password);</a:t>
            </a:r>
            <a:pPr indent="0" marL="0">
              <a:lnSpc>
                <a:spcPct val="115000"/>
              </a:lnSpc>
              <a:buNone/>
            </a:pPr>
            <a:endParaRPr lang="en-US" sz="8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8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endParaRPr lang="en-US" sz="8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8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8" dirty="0">
                <a:solidFill>
                  <a:srgbClr val="7E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Sign in</a:t>
            </a:r>
            <a:pPr indent="0" marL="0">
              <a:lnSpc>
                <a:spcPct val="115000"/>
              </a:lnSpc>
              <a:buNone/>
            </a:pPr>
            <a:endParaRPr lang="en-US" sz="8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8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Future&lt;void&gt; signIn(String email, String password) async {</a:t>
            </a:r>
            <a:pPr indent="0" marL="0">
              <a:lnSpc>
                <a:spcPct val="115000"/>
              </a:lnSpc>
              <a:buNone/>
            </a:pPr>
            <a:endParaRPr lang="en-US" sz="8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8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auth.signInWithEmailAndPassword(email: email, password: password);</a:t>
            </a:r>
            <a:pPr indent="0" marL="0">
              <a:lnSpc>
                <a:spcPct val="115000"/>
              </a:lnSpc>
              <a:buNone/>
            </a:pPr>
            <a:endParaRPr lang="en-US" sz="8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8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15000"/>
              </a:lnSpc>
              <a:buNone/>
            </a:pPr>
            <a:endParaRPr lang="en-US" sz="8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8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8" dirty="0">
                <a:solidFill>
                  <a:srgbClr val="7E8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React to sign-in / sign-out anywhere</a:t>
            </a:r>
            <a:pPr indent="0" marL="0">
              <a:lnSpc>
                <a:spcPct val="115000"/>
              </a:lnSpc>
              <a:buNone/>
            </a:pPr>
            <a:endParaRPr lang="en-US" sz="8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8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StreamBuilder&lt;User?&gt;(</a:t>
            </a:r>
            <a:pPr indent="0" marL="0">
              <a:lnSpc>
                <a:spcPct val="115000"/>
              </a:lnSpc>
              <a:buNone/>
            </a:pPr>
            <a:endParaRPr lang="en-US" sz="8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8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stream: auth.authStateChanges(),</a:t>
            </a:r>
            <a:pPr indent="0" marL="0">
              <a:lnSpc>
                <a:spcPct val="115000"/>
              </a:lnSpc>
              <a:buNone/>
            </a:pPr>
            <a:endParaRPr lang="en-US" sz="8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8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builder: (context, snapshot) {</a:t>
            </a:r>
            <a:pPr indent="0" marL="0">
              <a:lnSpc>
                <a:spcPct val="115000"/>
              </a:lnSpc>
              <a:buNone/>
            </a:pPr>
            <a:endParaRPr lang="en-US" sz="8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8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(snapshot.hasData) return const HomeScreen();</a:t>
            </a:r>
            <a:pPr indent="0" marL="0">
              <a:lnSpc>
                <a:spcPct val="115000"/>
              </a:lnSpc>
              <a:buNone/>
            </a:pPr>
            <a:endParaRPr lang="en-US" sz="8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8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const LoginScreen();</a:t>
            </a:r>
            <a:pPr indent="0" marL="0">
              <a:lnSpc>
                <a:spcPct val="115000"/>
              </a:lnSpc>
              <a:buNone/>
            </a:pPr>
            <a:endParaRPr lang="en-US" sz="8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8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pPr indent="0" marL="0">
              <a:lnSpc>
                <a:spcPct val="115000"/>
              </a:lnSpc>
              <a:buNone/>
            </a:pPr>
            <a:endParaRPr lang="en-US" sz="8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8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888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4" y="520294"/>
            <a:ext cx="285293" cy="28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603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All Together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371600" y="132588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2C3A66"/>
          </a:solidFill>
          <a:ln/>
        </p:spPr>
      </p:sp>
      <p:sp>
        <p:nvSpPr>
          <p:cNvPr id="9" name="Text 6"/>
          <p:cNvSpPr/>
          <p:nvPr/>
        </p:nvSpPr>
        <p:spPr>
          <a:xfrm>
            <a:off x="1645920" y="143560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data source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645920" y="17647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REST API (e.g. JSONPlaceholder) or your own Firestore collection.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248716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487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371600" y="2395728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2C3A66"/>
          </a:solidFill>
          <a:ln/>
        </p:spPr>
      </p:sp>
      <p:sp>
        <p:nvSpPr>
          <p:cNvPr id="14" name="Text 11"/>
          <p:cNvSpPr/>
          <p:nvPr/>
        </p:nvSpPr>
        <p:spPr>
          <a:xfrm>
            <a:off x="1645920" y="2505456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list screen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645920" y="28346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the data with FutureBuilder or StreamBuilder and show it in a ListView.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355701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3557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371600" y="3465576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2C3A66"/>
          </a:solidFill>
          <a:ln/>
        </p:spPr>
      </p:sp>
      <p:sp>
        <p:nvSpPr>
          <p:cNvPr id="19" name="Text 16"/>
          <p:cNvSpPr/>
          <p:nvPr/>
        </p:nvSpPr>
        <p:spPr>
          <a:xfrm>
            <a:off x="1645920" y="3575304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detail screen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645920" y="390448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an item to push a new screen, passing the selected item's data forward.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" y="4626864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4626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371600" y="4535424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2C3A66"/>
          </a:solidFill>
          <a:ln/>
        </p:spPr>
      </p:sp>
      <p:sp>
        <p:nvSpPr>
          <p:cNvPr id="24" name="Text 21"/>
          <p:cNvSpPr/>
          <p:nvPr/>
        </p:nvSpPr>
        <p:spPr>
          <a:xfrm>
            <a:off x="1645920" y="464515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state if needed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645920" y="497433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Provider if multiple screens need to read or update the same data.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0080" y="569671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" y="5696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371600" y="5605272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2C3A66"/>
          </a:solidFill>
          <a:ln/>
        </p:spPr>
      </p:sp>
      <p:sp>
        <p:nvSpPr>
          <p:cNvPr id="29" name="Text 26"/>
          <p:cNvSpPr/>
          <p:nvPr/>
        </p:nvSpPr>
        <p:spPr>
          <a:xfrm>
            <a:off x="1645920" y="57150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645920" y="604418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your work and share the repo link before the day ends.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500116" y="1463040"/>
            <a:ext cx="1188720" cy="11887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9183" y="177210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92608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Happy Coding!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0" y="36576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Copy, paste, tweak, and make it your own.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Day 2 - Code &amp; Implementation Guide</dc:title>
  <dc:subject>PptxGenJS Presentation</dc:subject>
  <dc:creator>Adam</dc:creator>
  <cp:lastModifiedBy>Adam</cp:lastModifiedBy>
  <cp:revision>1</cp:revision>
  <dcterms:created xsi:type="dcterms:W3CDTF">2026-06-21T18:26:27Z</dcterms:created>
  <dcterms:modified xsi:type="dcterms:W3CDTF">2026-06-21T18:26:27Z</dcterms:modified>
</cp:coreProperties>
</file>